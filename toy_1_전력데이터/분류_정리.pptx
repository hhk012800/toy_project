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58" r:id="rId10"/>
    <p:sldId id="285" r:id="rId11"/>
    <p:sldId id="286" r:id="rId12"/>
    <p:sldId id="287" r:id="rId13"/>
    <p:sldId id="273" r:id="rId14"/>
    <p:sldId id="288" r:id="rId15"/>
    <p:sldId id="289" r:id="rId16"/>
    <p:sldId id="290" r:id="rId17"/>
    <p:sldId id="291" r:id="rId18"/>
    <p:sldId id="292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 Sim" initials="GS" lastIdx="7" clrIdx="0">
    <p:extLst>
      <p:ext uri="{19B8F6BF-5375-455C-9EA6-DF929625EA0E}">
        <p15:presenceInfo xmlns:p15="http://schemas.microsoft.com/office/powerpoint/2012/main" userId="f9b24a9b8f13ba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004D"/>
    <a:srgbClr val="E94560"/>
    <a:srgbClr val="265073"/>
    <a:srgbClr val="D4DCE3"/>
    <a:srgbClr val="DEEBF7"/>
    <a:srgbClr val="950101"/>
    <a:srgbClr val="FFFFFF"/>
    <a:srgbClr val="4C0027"/>
    <a:srgbClr val="3A1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0" autoAdjust="0"/>
    <p:restoredTop sz="92935" autoAdjust="0"/>
  </p:normalViewPr>
  <p:slideViewPr>
    <p:cSldViewPr snapToGrid="0">
      <p:cViewPr varScale="1">
        <p:scale>
          <a:sx n="106" d="100"/>
          <a:sy n="106" d="100"/>
        </p:scale>
        <p:origin x="65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D18B7-8B35-4314-950F-A9D4F43C1C1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714E8-4226-480C-A999-BA315239C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959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D9FA13E-F325-4DB9-A4A1-2B8E3D0D69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15" t="4562" r="32219"/>
          <a:stretch/>
        </p:blipFill>
        <p:spPr>
          <a:xfrm>
            <a:off x="7172552" y="-8238"/>
            <a:ext cx="6083937" cy="6866238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7101ED0-A662-4D25-B870-C58C191BC0D1}"/>
              </a:ext>
            </a:extLst>
          </p:cNvPr>
          <p:cNvCxnSpPr>
            <a:cxnSpLocks/>
          </p:cNvCxnSpPr>
          <p:nvPr userDrawn="1"/>
        </p:nvCxnSpPr>
        <p:spPr>
          <a:xfrm>
            <a:off x="937375" y="3298718"/>
            <a:ext cx="614922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2F4488A2-CCD7-4A61-8544-EDA6F0D5C8D0}"/>
              </a:ext>
            </a:extLst>
          </p:cNvPr>
          <p:cNvSpPr/>
          <p:nvPr userDrawn="1"/>
        </p:nvSpPr>
        <p:spPr>
          <a:xfrm>
            <a:off x="825842" y="3259661"/>
            <a:ext cx="78114" cy="7811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66C28C-C461-48EE-B26F-E05737CC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841" y="1934098"/>
            <a:ext cx="6083937" cy="1325563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B5FD9A-623E-4006-9A8D-1E32B738628E}"/>
              </a:ext>
            </a:extLst>
          </p:cNvPr>
          <p:cNvSpPr/>
          <p:nvPr userDrawn="1"/>
        </p:nvSpPr>
        <p:spPr>
          <a:xfrm>
            <a:off x="7239000" y="-8238"/>
            <a:ext cx="6017489" cy="6858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평행 사변형 26">
            <a:extLst>
              <a:ext uri="{FF2B5EF4-FFF2-40B4-BE49-F238E27FC236}">
                <a16:creationId xmlns:a16="http://schemas.microsoft.com/office/drawing/2014/main" id="{7BB51AB3-D967-49E3-9CFF-E5132AF4613D}"/>
              </a:ext>
            </a:extLst>
          </p:cNvPr>
          <p:cNvSpPr/>
          <p:nvPr userDrawn="1"/>
        </p:nvSpPr>
        <p:spPr>
          <a:xfrm>
            <a:off x="6784730" y="-981"/>
            <a:ext cx="921346" cy="6858000"/>
          </a:xfrm>
          <a:prstGeom prst="parallelogram">
            <a:avLst>
              <a:gd name="adj" fmla="val 4336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2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621C1-DC6A-42B5-88B0-4C65760D1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686EC4-D36C-4555-B549-1111E9A62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DB3E06-9FC8-42F5-894A-DC5C38C7A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50"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7F0AD0-103C-47C7-8BEC-4F310598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F27E77-9358-4931-898E-F526DF8E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dirty="0"/>
              <a:t>- </a:t>
            </a:r>
            <a:fld id="{4D6DB3F2-008A-4A70-A38E-7072DA55668B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47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CD3EE3-E9FA-465F-AF17-5BD0358304B0}"/>
              </a:ext>
            </a:extLst>
          </p:cNvPr>
          <p:cNvSpPr/>
          <p:nvPr userDrawn="1"/>
        </p:nvSpPr>
        <p:spPr>
          <a:xfrm>
            <a:off x="3075054" y="0"/>
            <a:ext cx="9116946" cy="6858000"/>
          </a:xfrm>
          <a:prstGeom prst="rect">
            <a:avLst/>
          </a:prstGeom>
          <a:solidFill>
            <a:schemeClr val="tx1">
              <a:lumMod val="90000"/>
              <a:lumOff val="1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D6B501-741F-4C1F-BCCA-B3C9D4DB43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85" r="22823"/>
          <a:stretch/>
        </p:blipFill>
        <p:spPr>
          <a:xfrm>
            <a:off x="0" y="0"/>
            <a:ext cx="3075055" cy="68580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52E878-E2BB-4C95-95BE-C24219DE3014}"/>
              </a:ext>
            </a:extLst>
          </p:cNvPr>
          <p:cNvSpPr/>
          <p:nvPr userDrawn="1"/>
        </p:nvSpPr>
        <p:spPr>
          <a:xfrm>
            <a:off x="680112" y="236220"/>
            <a:ext cx="2595825" cy="8524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543A6008-6A67-475C-BBEB-CF90CBADAF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76624" y="236220"/>
            <a:ext cx="7920604" cy="628681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제목 9">
            <a:extLst>
              <a:ext uri="{FF2B5EF4-FFF2-40B4-BE49-F238E27FC236}">
                <a16:creationId xmlns:a16="http://schemas.microsoft.com/office/drawing/2014/main" id="{0AAF6A19-F8CA-4D7E-81A3-1BDF0E14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289" y="220981"/>
            <a:ext cx="2385765" cy="852446"/>
          </a:xfrm>
        </p:spPr>
        <p:txBody>
          <a:bodyPr>
            <a:normAutofit/>
          </a:bodyPr>
          <a:lstStyle>
            <a:lvl1pPr algn="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7888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86B6238-68BB-4311-8242-06A12B47FD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450" y="93207"/>
            <a:ext cx="1931301" cy="28157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17" name="텍스트 개체 틀 14">
            <a:extLst>
              <a:ext uri="{FF2B5EF4-FFF2-40B4-BE49-F238E27FC236}">
                <a16:creationId xmlns:a16="http://schemas.microsoft.com/office/drawing/2014/main" id="{98B7B000-628F-4012-B2AA-BAB830E9AC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450" y="391748"/>
            <a:ext cx="6342785" cy="398688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lvl="0"/>
            <a:r>
              <a:rPr lang="ko-KR" altLang="en-US" dirty="0" err="1"/>
              <a:t>중제목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97F110A-8EC0-4A17-8A42-465EDC16E32B}"/>
              </a:ext>
            </a:extLst>
          </p:cNvPr>
          <p:cNvSpPr/>
          <p:nvPr userDrawn="1"/>
        </p:nvSpPr>
        <p:spPr>
          <a:xfrm>
            <a:off x="-14621" y="0"/>
            <a:ext cx="12192000" cy="6858000"/>
          </a:xfrm>
          <a:prstGeom prst="rect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2B3754A-BE51-49DA-BB87-B108631F9852}"/>
              </a:ext>
            </a:extLst>
          </p:cNvPr>
          <p:cNvCxnSpPr>
            <a:cxnSpLocks/>
          </p:cNvCxnSpPr>
          <p:nvPr userDrawn="1"/>
        </p:nvCxnSpPr>
        <p:spPr>
          <a:xfrm>
            <a:off x="170155" y="990600"/>
            <a:ext cx="1" cy="5694872"/>
          </a:xfrm>
          <a:prstGeom prst="line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F11A18-15D8-4774-B118-60382A1E07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771611" y="6623722"/>
            <a:ext cx="648778" cy="201355"/>
          </a:xfrm>
        </p:spPr>
        <p:txBody>
          <a:bodyPr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fld id="{F6FA8E7E-B77D-4943-B1BD-6A26B121E4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655C5-1692-46AD-B712-E963935C79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7649" y="851647"/>
            <a:ext cx="11613671" cy="5614602"/>
          </a:xfrm>
        </p:spPr>
        <p:txBody>
          <a:bodyPr/>
          <a:lstStyle>
            <a:lvl1pPr marL="361950" indent="-361950" latinLnBrk="0">
              <a:lnSpc>
                <a:spcPct val="125000"/>
              </a:lnSpc>
              <a:defRPr sz="2000"/>
            </a:lvl1pPr>
            <a:lvl2pPr marL="809625" indent="-361950" latinLnBrk="0">
              <a:lnSpc>
                <a:spcPct val="125000"/>
              </a:lnSpc>
              <a:defRPr sz="1800"/>
            </a:lvl2pPr>
            <a:lvl3pPr marL="1257300" indent="-342900" latinLnBrk="0">
              <a:lnSpc>
                <a:spcPct val="125000"/>
              </a:lnSpc>
              <a:defRPr sz="1600"/>
            </a:lvl3pPr>
            <a:lvl4pPr marL="1524000" indent="-228600" latinLnBrk="0">
              <a:lnSpc>
                <a:spcPct val="125000"/>
              </a:lnSpc>
              <a:defRPr sz="1600"/>
            </a:lvl4pPr>
            <a:lvl5pPr marL="1885950" indent="-228600" latinLnBrk="0">
              <a:lnSpc>
                <a:spcPct val="125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41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(그림만)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86B6238-68BB-4311-8242-06A12B47FD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450" y="93207"/>
            <a:ext cx="1931301" cy="28157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  <p:sp>
        <p:nvSpPr>
          <p:cNvPr id="17" name="텍스트 개체 틀 14">
            <a:extLst>
              <a:ext uri="{FF2B5EF4-FFF2-40B4-BE49-F238E27FC236}">
                <a16:creationId xmlns:a16="http://schemas.microsoft.com/office/drawing/2014/main" id="{98B7B000-628F-4012-B2AA-BAB830E9AC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450" y="391748"/>
            <a:ext cx="6342785" cy="398688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lvl="0"/>
            <a:r>
              <a:rPr lang="ko-KR" altLang="en-US" dirty="0" err="1"/>
              <a:t>중제목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97F110A-8EC0-4A17-8A42-465EDC16E32B}"/>
              </a:ext>
            </a:extLst>
          </p:cNvPr>
          <p:cNvSpPr/>
          <p:nvPr userDrawn="1"/>
        </p:nvSpPr>
        <p:spPr>
          <a:xfrm>
            <a:off x="-41516" y="0"/>
            <a:ext cx="12192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F11A18-15D8-4774-B118-60382A1E07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771611" y="6623722"/>
            <a:ext cx="648778" cy="201355"/>
          </a:xfrm>
        </p:spPr>
        <p:txBody>
          <a:bodyPr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fld id="{F6FA8E7E-B77D-4943-B1BD-6A26B121E4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655C5-1692-46AD-B712-E963935C79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7649" y="851647"/>
            <a:ext cx="11613671" cy="5614602"/>
          </a:xfrm>
        </p:spPr>
        <p:txBody>
          <a:bodyPr/>
          <a:lstStyle>
            <a:lvl1pPr marL="361950" indent="-361950" latinLnBrk="0">
              <a:lnSpc>
                <a:spcPct val="125000"/>
              </a:lnSpc>
              <a:defRPr sz="2000"/>
            </a:lvl1pPr>
            <a:lvl2pPr marL="809625" indent="-361950" latinLnBrk="0">
              <a:lnSpc>
                <a:spcPct val="125000"/>
              </a:lnSpc>
              <a:defRPr sz="1800"/>
            </a:lvl2pPr>
            <a:lvl3pPr marL="1257300" indent="-342900" latinLnBrk="0">
              <a:lnSpc>
                <a:spcPct val="125000"/>
              </a:lnSpc>
              <a:defRPr sz="1600"/>
            </a:lvl3pPr>
            <a:lvl4pPr marL="1524000" indent="-228600" latinLnBrk="0">
              <a:lnSpc>
                <a:spcPct val="125000"/>
              </a:lnSpc>
              <a:defRPr sz="1600"/>
            </a:lvl4pPr>
            <a:lvl5pPr marL="1885950" indent="-228600" latinLnBrk="0">
              <a:lnSpc>
                <a:spcPct val="125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57815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슬라이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80FAC3F-2A90-4B4F-A36D-83471BFAAC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1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3281480C-DD4E-493A-8463-FEB96F309EE6}"/>
              </a:ext>
            </a:extLst>
          </p:cNvPr>
          <p:cNvSpPr/>
          <p:nvPr userDrawn="1"/>
        </p:nvSpPr>
        <p:spPr>
          <a:xfrm>
            <a:off x="373380" y="0"/>
            <a:ext cx="1737360" cy="2194560"/>
          </a:xfrm>
          <a:prstGeom prst="parallelogram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AD214E35-60C7-4D98-872E-FD85C6284564}"/>
              </a:ext>
            </a:extLst>
          </p:cNvPr>
          <p:cNvSpPr/>
          <p:nvPr userDrawn="1"/>
        </p:nvSpPr>
        <p:spPr>
          <a:xfrm>
            <a:off x="9959340" y="4663440"/>
            <a:ext cx="1737360" cy="2194560"/>
          </a:xfrm>
          <a:prstGeom prst="parallelogram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484B1617-571D-4030-8A7C-37F1CCF0B4C3}"/>
              </a:ext>
            </a:extLst>
          </p:cNvPr>
          <p:cNvSpPr/>
          <p:nvPr userDrawn="1"/>
        </p:nvSpPr>
        <p:spPr>
          <a:xfrm>
            <a:off x="1242060" y="-1"/>
            <a:ext cx="2491740" cy="3147461"/>
          </a:xfrm>
          <a:prstGeom prst="parallelogram">
            <a:avLst/>
          </a:prstGeom>
          <a:solidFill>
            <a:schemeClr val="tx2">
              <a:lumMod val="50000"/>
              <a:lumOff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F23943DA-1F7F-4C7D-94FC-440C04395652}"/>
              </a:ext>
            </a:extLst>
          </p:cNvPr>
          <p:cNvSpPr/>
          <p:nvPr userDrawn="1"/>
        </p:nvSpPr>
        <p:spPr>
          <a:xfrm>
            <a:off x="8458200" y="3797166"/>
            <a:ext cx="2423160" cy="3060834"/>
          </a:xfrm>
          <a:prstGeom prst="parallelogram">
            <a:avLst/>
          </a:prstGeom>
          <a:solidFill>
            <a:schemeClr val="tx2">
              <a:lumMod val="50000"/>
              <a:lumOff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평행 사변형 7">
            <a:extLst>
              <a:ext uri="{FF2B5EF4-FFF2-40B4-BE49-F238E27FC236}">
                <a16:creationId xmlns:a16="http://schemas.microsoft.com/office/drawing/2014/main" id="{CC7DF85E-902B-4FB2-B82D-9661E350A416}"/>
              </a:ext>
            </a:extLst>
          </p:cNvPr>
          <p:cNvSpPr/>
          <p:nvPr userDrawn="1"/>
        </p:nvSpPr>
        <p:spPr>
          <a:xfrm>
            <a:off x="1478280" y="22860"/>
            <a:ext cx="9052560" cy="6835140"/>
          </a:xfrm>
          <a:prstGeom prst="parallelogram">
            <a:avLst>
              <a:gd name="adj" fmla="val 18029"/>
            </a:avLst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FE9183B7-8D58-46EB-9C2A-A709B769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511" y="1844757"/>
            <a:ext cx="6726218" cy="1325563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754F20B-EB02-4CA7-89D0-FF9F3D8C32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40511" y="3281363"/>
            <a:ext cx="6723529" cy="3303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7662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81E487-B97C-4414-B973-5DADAF3E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231B16-97BE-4054-BE77-67F6944E0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308BE-D0F3-4324-A302-0F7493828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8AD950-91C6-4469-88AA-B476BCB17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95ED00-E3C8-44B8-A779-162879C6B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DB3F2-008A-4A70-A38E-7072DA556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5" r:id="rId3"/>
    <p:sldLayoutId id="2147483660" r:id="rId4"/>
    <p:sldLayoutId id="2147483664" r:id="rId5"/>
    <p:sldLayoutId id="2147483663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125000"/>
        </a:lnSpc>
        <a:spcBef>
          <a:spcPts val="1000"/>
        </a:spcBef>
        <a:buSzPct val="100000"/>
        <a:buFont typeface="KoPub돋움체 Medium" panose="02020603020101020101" pitchFamily="18" charset="-127"/>
        <a:buChar char="□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9625" indent="-266700" algn="l" defTabSz="914400" rtl="0" eaLnBrk="1" latinLnBrk="0" hangingPunct="1">
        <a:lnSpc>
          <a:spcPct val="125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62050" indent="-247650" algn="l" defTabSz="914400" rtl="0" eaLnBrk="1" latinLnBrk="0" hangingPunct="1">
        <a:lnSpc>
          <a:spcPct val="125000"/>
        </a:lnSpc>
        <a:spcBef>
          <a:spcPts val="500"/>
        </a:spcBef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90700" indent="-228600" algn="l" defTabSz="914400" rtl="0" eaLnBrk="1" latinLnBrk="0" hangingPunct="1">
        <a:lnSpc>
          <a:spcPct val="125000"/>
        </a:lnSpc>
        <a:spcBef>
          <a:spcPts val="500"/>
        </a:spcBef>
        <a:buFont typeface="KoPub돋움체 Medium" panose="02020603020101020101" pitchFamily="18" charset="-127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F912D-D655-6F52-7562-F401BAD0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과제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EAB33-90EA-AB6C-9B39-0D2E646D284C}"/>
              </a:ext>
            </a:extLst>
          </p:cNvPr>
          <p:cNvSpPr txBox="1"/>
          <p:nvPr/>
        </p:nvSpPr>
        <p:spPr>
          <a:xfrm>
            <a:off x="5395866" y="6335565"/>
            <a:ext cx="200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지원자 한현기</a:t>
            </a:r>
          </a:p>
        </p:txBody>
      </p:sp>
    </p:spTree>
    <p:extLst>
      <p:ext uri="{BB962C8B-B14F-4D97-AF65-F5344CB8AC3E}">
        <p14:creationId xmlns:p14="http://schemas.microsoft.com/office/powerpoint/2010/main" val="377248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9E5A60-F549-E3B1-A580-7932E5CD19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+mn-ea"/>
              </a:rPr>
              <a:t>주관식 문항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Fork, clone, pull request</a:t>
            </a:r>
            <a:r>
              <a:rPr lang="ko-KR" altLang="ko-KR" dirty="0">
                <a:latin typeface="+mn-ea"/>
              </a:rPr>
              <a:t>의 차이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ko-KR" dirty="0">
                <a:latin typeface="+mn-ea"/>
              </a:rPr>
              <a:t>오픈소스 프로젝트를 본인 환경에 가져올 때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ko-KR" dirty="0">
                <a:latin typeface="+mn-ea"/>
              </a:rPr>
              <a:t>저장소 구조</a:t>
            </a:r>
            <a:r>
              <a:rPr lang="en-US" altLang="ko-KR" dirty="0">
                <a:latin typeface="+mn-ea"/>
              </a:rPr>
              <a:t>(README, </a:t>
            </a:r>
            <a:r>
              <a:rPr lang="en-US" altLang="ko-KR" dirty="0" err="1">
                <a:latin typeface="+mn-ea"/>
              </a:rPr>
              <a:t>src</a:t>
            </a:r>
            <a:r>
              <a:rPr lang="en-US" altLang="ko-KR" dirty="0">
                <a:latin typeface="+mn-ea"/>
              </a:rPr>
              <a:t>, launch, config </a:t>
            </a:r>
            <a:r>
              <a:rPr lang="ko-KR" altLang="ko-KR" dirty="0">
                <a:latin typeface="+mn-ea"/>
              </a:rPr>
              <a:t>등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ko-KR" dirty="0">
                <a:latin typeface="+mn-ea"/>
              </a:rPr>
              <a:t>가장 먼저 확인해야 할 파일</a:t>
            </a:r>
            <a:r>
              <a:rPr lang="ko-KR" altLang="en-US" dirty="0">
                <a:latin typeface="+mn-ea"/>
              </a:rPr>
              <a:t> 중요도 </a:t>
            </a:r>
            <a:endParaRPr lang="en-US" altLang="ko-KR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깃허브</a:t>
            </a:r>
            <a:r>
              <a:rPr lang="ko-KR" altLang="en-US" dirty="0">
                <a:latin typeface="+mn-ea"/>
              </a:rPr>
              <a:t> 프로젝트 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프로젝트 보고서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개요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모형 설계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결과 및 시사점 </a:t>
            </a:r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133EF69-DD13-8373-4FA8-0BCB6F1B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C139E7-5020-A1B8-9CEE-0316DDF023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r>
              <a:rPr lang="en-US" altLang="ko-KR"/>
              <a:t>- </a:t>
            </a:r>
            <a:fld id="{4D6DB3F2-008A-4A70-A38E-7072DA55668B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577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49A9-53C8-BC83-E715-ADB4990A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95C916D-0BBE-70FA-3733-3482F04A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주관식 문항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FB6F5C4-95A3-E106-D213-2C8C3F663F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534554-CE4E-9F77-6CD5-8FEA960951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623050"/>
            <a:ext cx="647700" cy="201613"/>
          </a:xfrm>
        </p:spPr>
        <p:txBody>
          <a:bodyPr/>
          <a:lstStyle/>
          <a:p>
            <a:fld id="{F6FA8E7E-B77D-4943-B1BD-6A26B121E470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300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D01B-914D-AB26-7103-7A190ACD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A6E0067-10C8-23A8-6091-4BE88C6D90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주관식 문항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3B07A09-3261-20AD-A3DF-4A8CF726A0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Fork, clone, pull request</a:t>
            </a:r>
            <a:r>
              <a:rPr lang="ko-KR" altLang="ko-KR" dirty="0"/>
              <a:t>의 차이를 각각 </a:t>
            </a:r>
            <a:r>
              <a:rPr lang="ko-KR" altLang="ko-KR" dirty="0" err="1"/>
              <a:t>설명하시오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475836B-6AD2-EDED-6F2C-D0C059A7C07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</a:p>
          <a:p>
            <a:pPr lvl="1"/>
            <a:r>
              <a:rPr lang="ko-KR" altLang="en-US" dirty="0"/>
              <a:t>다른</a:t>
            </a:r>
            <a:r>
              <a:rPr lang="en-US" altLang="ko-KR" dirty="0"/>
              <a:t> </a:t>
            </a:r>
            <a:r>
              <a:rPr lang="ko-KR" altLang="en-US" dirty="0"/>
              <a:t>사람의 </a:t>
            </a:r>
            <a:r>
              <a:rPr lang="ko-KR" altLang="en-US" dirty="0" err="1"/>
              <a:t>깃허브를</a:t>
            </a:r>
            <a:r>
              <a:rPr lang="ko-KR" altLang="en-US" dirty="0"/>
              <a:t> 내 계정으로 복사하는 것을 말함 내 계정에서 자유롭게 수정하기 위해서 사용</a:t>
            </a:r>
            <a:endParaRPr lang="en-US" altLang="ko-KR" dirty="0"/>
          </a:p>
          <a:p>
            <a:r>
              <a:rPr lang="en-US" altLang="ko-KR" dirty="0"/>
              <a:t>Clone</a:t>
            </a:r>
          </a:p>
          <a:p>
            <a:pPr lvl="1"/>
            <a:r>
              <a:rPr lang="ko-KR" altLang="en-US" dirty="0"/>
              <a:t>다른 사람의 </a:t>
            </a:r>
            <a:r>
              <a:rPr lang="ko-KR" altLang="en-US" dirty="0" err="1"/>
              <a:t>깃허브에</a:t>
            </a:r>
            <a:r>
              <a:rPr lang="ko-KR" altLang="en-US" dirty="0"/>
              <a:t> 있는 프로젝트를 내 </a:t>
            </a:r>
            <a:r>
              <a:rPr lang="en-US" altLang="ko-KR" dirty="0"/>
              <a:t>PC </a:t>
            </a:r>
            <a:r>
              <a:rPr lang="ko-KR" altLang="en-US" dirty="0"/>
              <a:t>으로 복제하는 것을 말함 </a:t>
            </a:r>
            <a:r>
              <a:rPr lang="en-US" altLang="ko-KR" dirty="0"/>
              <a:t>(</a:t>
            </a:r>
            <a:r>
              <a:rPr lang="ko-KR" altLang="en-US" dirty="0"/>
              <a:t>구글 </a:t>
            </a:r>
            <a:r>
              <a:rPr lang="ko-KR" altLang="en-US" dirty="0" err="1"/>
              <a:t>코랩</a:t>
            </a:r>
            <a:r>
              <a:rPr lang="ko-KR" altLang="en-US" dirty="0"/>
              <a:t> 사용하거나 클론해서 개인 컴퓨터에서 사용함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Pull Request (PR)</a:t>
            </a:r>
          </a:p>
          <a:p>
            <a:pPr lvl="1"/>
            <a:r>
              <a:rPr lang="ko-KR" altLang="en-US" dirty="0"/>
              <a:t>저장소에 수정한 내용을 원본 저장소에 병합해달라고 요청하는 절차</a:t>
            </a:r>
            <a:endParaRPr lang="en-US" altLang="ko-KR" dirty="0"/>
          </a:p>
          <a:p>
            <a:pPr lvl="1"/>
            <a:r>
              <a:rPr lang="ko-KR" altLang="en-US" dirty="0"/>
              <a:t>프로젝트를 진행 할 때 개인의 업무를 공유하면서 협업해서 할 수 있고 버전 업 된 최신 코드를 나눌 수 있음</a:t>
            </a:r>
            <a:endParaRPr lang="en-US" altLang="ko-KR" dirty="0"/>
          </a:p>
          <a:p>
            <a:pPr marL="447675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54814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712C3-6D5C-CA2C-4A5E-A092FFEEB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9E8D03-3DAE-1F0A-D6A8-0CA6393FE0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주관식 문항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849CB11-C27C-F672-A99F-2908D1D718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ko-KR" b="1" dirty="0"/>
              <a:t>저장소 구조</a:t>
            </a:r>
            <a:r>
              <a:rPr lang="en-US" altLang="ko-KR" b="1" dirty="0"/>
              <a:t>(README, </a:t>
            </a:r>
            <a:r>
              <a:rPr lang="en-US" altLang="ko-KR" b="1" dirty="0" err="1"/>
              <a:t>src</a:t>
            </a:r>
            <a:r>
              <a:rPr lang="en-US" altLang="ko-KR" b="1" dirty="0"/>
              <a:t>, launch, config</a:t>
            </a:r>
            <a:r>
              <a:rPr lang="ko-KR" altLang="en-US" b="1" dirty="0"/>
              <a:t>등</a:t>
            </a:r>
            <a:r>
              <a:rPr lang="en-US" altLang="ko-KR" b="1" dirty="0"/>
              <a:t>) </a:t>
            </a:r>
            <a:r>
              <a:rPr lang="ko-KR" altLang="en-US" b="1" dirty="0"/>
              <a:t>중요도</a:t>
            </a:r>
            <a:r>
              <a:rPr lang="en-US" altLang="ko-KR" b="1" dirty="0"/>
              <a:t>.. </a:t>
            </a:r>
            <a:endParaRPr lang="ko-KR" altLang="en-US" b="1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482A6A6-7E2F-5BB9-EFEB-E881B499A9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README.md </a:t>
            </a:r>
            <a:r>
              <a:rPr lang="ko-KR" altLang="en-US" dirty="0"/>
              <a:t>파일을 우선 적으로 봐야 한다고 생각합니다</a:t>
            </a:r>
            <a:r>
              <a:rPr lang="en-US" altLang="ko-KR" dirty="0"/>
              <a:t>. </a:t>
            </a:r>
            <a:r>
              <a:rPr lang="ko-KR" altLang="en-US" dirty="0"/>
              <a:t>프로젝트 개요</a:t>
            </a:r>
            <a:r>
              <a:rPr lang="en-US" altLang="ko-KR" dirty="0"/>
              <a:t>/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실행 방법</a:t>
            </a:r>
            <a:r>
              <a:rPr lang="en-US" altLang="ko-KR" dirty="0"/>
              <a:t>, </a:t>
            </a:r>
            <a:r>
              <a:rPr lang="ko-KR" altLang="en-US" dirty="0"/>
              <a:t>폴더 구조 요약 등등 핵심 안내문 이라고 생각합니다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사실 </a:t>
            </a:r>
            <a:r>
              <a:rPr lang="en-US" altLang="ko-KR" dirty="0"/>
              <a:t>README.md </a:t>
            </a:r>
            <a:r>
              <a:rPr lang="ko-KR" altLang="en-US" dirty="0"/>
              <a:t>파일을 우선 적으로 확인해야 한다고 생각하지만 간단하게 읽고 넘어갑니다</a:t>
            </a:r>
            <a:r>
              <a:rPr lang="en-US" altLang="ko-KR" dirty="0"/>
              <a:t>. </a:t>
            </a:r>
            <a:r>
              <a:rPr lang="ko-KR" altLang="en-US" dirty="0"/>
              <a:t>실질적으로 프로젝트</a:t>
            </a:r>
            <a:r>
              <a:rPr lang="en-US" altLang="ko-KR" dirty="0"/>
              <a:t>(</a:t>
            </a:r>
            <a:r>
              <a:rPr lang="ko-KR" altLang="en-US" dirty="0"/>
              <a:t>데이터가 주어지는</a:t>
            </a:r>
            <a:r>
              <a:rPr lang="en-US" altLang="ko-KR" dirty="0"/>
              <a:t>)</a:t>
            </a:r>
            <a:r>
              <a:rPr lang="ko-KR" altLang="en-US" dirty="0"/>
              <a:t>를 가져와서 학습할 때 </a:t>
            </a:r>
            <a:r>
              <a:rPr lang="en-US" altLang="ko-KR" dirty="0"/>
              <a:t>train.py</a:t>
            </a:r>
            <a:r>
              <a:rPr lang="ko-KR" altLang="en-US" dirty="0"/>
              <a:t>를 실행 하면 되지만 결국엔 내 데이터에 맞게 학습을 시키고 프로젝트를 진행할 수 있는 환경을 다시 구성 하는 게 시간이 되게 오래 걸리는 작업입니다</a:t>
            </a:r>
            <a:r>
              <a:rPr lang="en-US" altLang="ko-KR" dirty="0"/>
              <a:t>.</a:t>
            </a:r>
            <a:r>
              <a:rPr lang="ko-KR" altLang="en-US" dirty="0"/>
              <a:t> 그 다음에 빠르게 아래의 것들을 확인합니다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데이터를 어떤 형식으로 확인</a:t>
            </a:r>
            <a:endParaRPr lang="en-US" altLang="ko-KR" dirty="0"/>
          </a:p>
          <a:p>
            <a:pPr lvl="1"/>
            <a:r>
              <a:rPr lang="en-US" altLang="ko-KR" dirty="0"/>
              <a:t>requirements.txt </a:t>
            </a:r>
            <a:r>
              <a:rPr lang="ko-KR" altLang="en-US" dirty="0"/>
              <a:t>패키지를 그대로 가상환경에 설치 </a:t>
            </a:r>
            <a:endParaRPr lang="en-US" altLang="ko-KR" dirty="0"/>
          </a:p>
          <a:p>
            <a:pPr lvl="1"/>
            <a:r>
              <a:rPr lang="en-US" altLang="ko-KR" dirty="0"/>
              <a:t>Config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4014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7C50-FAFF-6982-1880-C9D47BB8F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0D07273F-3318-9530-2985-BC66F438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+mn-ea"/>
              </a:rPr>
              <a:t>깃허브</a:t>
            </a:r>
            <a:r>
              <a:rPr lang="ko-KR" altLang="en-US" dirty="0">
                <a:latin typeface="+mn-ea"/>
              </a:rPr>
              <a:t> 프로젝트 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07E8F0B-F117-DEF5-5E24-FC3E634F92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7834FD-4727-03E3-8695-058B65A2A6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623050"/>
            <a:ext cx="647700" cy="201613"/>
          </a:xfrm>
        </p:spPr>
        <p:txBody>
          <a:bodyPr/>
          <a:lstStyle/>
          <a:p>
            <a:fld id="{F6FA8E7E-B77D-4943-B1BD-6A26B121E470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78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FA95-B0C5-A8A2-2F34-9B798894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6FBB65D-38AF-5481-2D41-7D788FDBDA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프로젝트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975AB23-F336-33E6-B719-FC70D76288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b="1" dirty="0"/>
              <a:t>프로젝트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CC0BD86-40BF-AFDF-FC0A-43F8F99C19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사실 프로젝트 많이 경험한 적도 없으며 있어도 주먹구구식으로 진행해서 정리된 형태가 아니라 </a:t>
            </a:r>
            <a:r>
              <a:rPr lang="ko-KR" altLang="en-US" dirty="0" err="1">
                <a:latin typeface="+mn-ea"/>
              </a:rPr>
              <a:t>깃허브에</a:t>
            </a:r>
            <a:r>
              <a:rPr lang="ko-KR" altLang="en-US" dirty="0">
                <a:latin typeface="+mn-ea"/>
              </a:rPr>
              <a:t> 올리기가 어렵습니다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 err="1">
                <a:latin typeface="+mn-ea"/>
              </a:rPr>
              <a:t>깃허브</a:t>
            </a:r>
            <a:r>
              <a:rPr lang="ko-KR" altLang="en-US" dirty="0">
                <a:latin typeface="+mn-ea"/>
              </a:rPr>
              <a:t> 업로드 부분은 넘어가고 과제를 진행하려고 합니다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죄송합니다</a:t>
            </a:r>
            <a:r>
              <a:rPr lang="en-US" altLang="ko-KR" dirty="0">
                <a:latin typeface="+mn-ea"/>
              </a:rPr>
              <a:t>.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9793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7553E-CB0D-A713-DD8E-4ECBE21D7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1645DC6-54A5-374F-DB1D-1A3B4EF9E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+mn-ea"/>
              </a:rPr>
              <a:t>프로젝트 보고서 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13CA942-66DE-8DBC-91AF-021B9F6721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8747E8-6A82-9AD1-17CF-14FFC47508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623050"/>
            <a:ext cx="647700" cy="201613"/>
          </a:xfrm>
        </p:spPr>
        <p:txBody>
          <a:bodyPr/>
          <a:lstStyle/>
          <a:p>
            <a:fld id="{F6FA8E7E-B77D-4943-B1BD-6A26B121E470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792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6B19419-2BB7-62F6-2DAD-8DB31E6A9F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BFCDC23-C046-EB35-A674-A21EED8ABF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프로젝트 설명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2FF5BE-8840-7E21-254C-647CFA54B9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토이 과제를 주어 진 적이 있어서 자료들을 정리 한 게 있어서 간략하게 요약해서 제출 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토이 과제 설명</a:t>
            </a:r>
            <a:endParaRPr lang="en-US" altLang="ko-KR" dirty="0"/>
          </a:p>
          <a:p>
            <a:pPr lvl="1"/>
            <a:r>
              <a:rPr lang="ko-KR" altLang="en-US" dirty="0"/>
              <a:t>주어진 센서 데이터를 기반으로 </a:t>
            </a:r>
            <a:r>
              <a:rPr lang="en-US" altLang="ko-KR" dirty="0"/>
              <a:t>Failure </a:t>
            </a:r>
            <a:r>
              <a:rPr lang="ko-KR" altLang="en-US" dirty="0"/>
              <a:t>여부를 예측하는 분류 모델에 적용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871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5CAF2-69A1-13D9-DF9E-5C8AA653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BDFCF2C-90B0-6B8A-1601-16B33F88AB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2955BD0-234A-197E-7422-2549039A2F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BAEE6EC-89DA-CA46-3CDF-09DE7CE9CA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발전소에서는 터빈과 보일러에 부착된 센서를 통해 시간 단위로 주요 지표를 수집</a:t>
            </a:r>
            <a:endParaRPr lang="en-US" altLang="ko-KR" dirty="0"/>
          </a:p>
          <a:p>
            <a:r>
              <a:rPr lang="ko-KR" altLang="en-US" dirty="0" err="1"/>
              <a:t>결측치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Temperature 70, Vibration 60, </a:t>
            </a:r>
            <a:r>
              <a:rPr lang="en-US" altLang="ko-KR" dirty="0" err="1">
                <a:latin typeface="+mn-ea"/>
              </a:rPr>
              <a:t>GasFlow</a:t>
            </a:r>
            <a:r>
              <a:rPr lang="en-US" altLang="ko-KR" dirty="0">
                <a:latin typeface="+mn-ea"/>
              </a:rPr>
              <a:t> 70 </a:t>
            </a:r>
            <a:r>
              <a:rPr lang="ko-KR" altLang="en-US" dirty="0">
                <a:latin typeface="+mn-ea"/>
              </a:rPr>
              <a:t>총 </a:t>
            </a:r>
            <a:r>
              <a:rPr lang="en-US" altLang="ko-KR" dirty="0">
                <a:latin typeface="+mn-ea"/>
              </a:rPr>
              <a:t>200</a:t>
            </a:r>
            <a:r>
              <a:rPr lang="ko-KR" altLang="en-US" dirty="0">
                <a:latin typeface="+mn-ea"/>
              </a:rPr>
              <a:t>개 </a:t>
            </a:r>
            <a:r>
              <a:rPr lang="ko-KR" altLang="en-US" dirty="0" err="1">
                <a:latin typeface="+mn-ea"/>
              </a:rPr>
              <a:t>결측치</a:t>
            </a:r>
            <a:r>
              <a:rPr lang="ko-KR" altLang="en-US" dirty="0">
                <a:latin typeface="+mn-ea"/>
              </a:rPr>
              <a:t> 발견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단순 평균 대체로 대치함</a:t>
            </a:r>
            <a:endParaRPr lang="en-US" altLang="ko-KR" dirty="0">
              <a:latin typeface="+mn-ea"/>
              <a:sym typeface="Wingdings" panose="05000000000000000000" pitchFamily="2" charset="2"/>
            </a:endParaRPr>
          </a:p>
          <a:p>
            <a:r>
              <a:rPr lang="ko-KR" altLang="en-US" dirty="0">
                <a:latin typeface="+mn-ea"/>
              </a:rPr>
              <a:t>데이터 탐색 했을 때 데이터 불균형이 있다는 것을 확인함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 </a:t>
            </a:r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C480791-3447-535A-491F-FEA7B20D6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287191"/>
              </p:ext>
            </p:extLst>
          </p:nvPr>
        </p:nvGraphicFramePr>
        <p:xfrm>
          <a:off x="5776233" y="2637539"/>
          <a:ext cx="4101827" cy="21623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0734">
                  <a:extLst>
                    <a:ext uri="{9D8B030D-6E8A-4147-A177-3AD203B41FA5}">
                      <a16:colId xmlns:a16="http://schemas.microsoft.com/office/drawing/2014/main" val="3242521319"/>
                    </a:ext>
                  </a:extLst>
                </a:gridCol>
                <a:gridCol w="2331093">
                  <a:extLst>
                    <a:ext uri="{9D8B030D-6E8A-4147-A177-3AD203B41FA5}">
                      <a16:colId xmlns:a16="http://schemas.microsoft.com/office/drawing/2014/main" val="3363092118"/>
                    </a:ext>
                  </a:extLst>
                </a:gridCol>
              </a:tblGrid>
              <a:tr h="2402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컬럼명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설명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extLst>
                  <a:ext uri="{0D108BD9-81ED-4DB2-BD59-A6C34878D82A}">
                    <a16:rowId xmlns:a16="http://schemas.microsoft.com/office/drawing/2014/main" val="3108571516"/>
                  </a:ext>
                </a:extLst>
              </a:tr>
              <a:tr h="2402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Timestamp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시간 </a:t>
                      </a:r>
                      <a:r>
                        <a:rPr lang="en-US" altLang="ko-KR" sz="800" u="none" strike="noStrike">
                          <a:effectLst/>
                        </a:rPr>
                        <a:t>(1</a:t>
                      </a:r>
                      <a:r>
                        <a:rPr lang="ko-KR" altLang="en-US" sz="800" u="none" strike="noStrike">
                          <a:effectLst/>
                        </a:rPr>
                        <a:t>시간 단위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extLst>
                  <a:ext uri="{0D108BD9-81ED-4DB2-BD59-A6C34878D82A}">
                    <a16:rowId xmlns:a16="http://schemas.microsoft.com/office/drawing/2014/main" val="1203174924"/>
                  </a:ext>
                </a:extLst>
              </a:tr>
              <a:tr h="2402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UnitID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설비 </a:t>
                      </a:r>
                      <a:r>
                        <a:rPr lang="en-US" sz="800" u="none" strike="noStrike">
                          <a:effectLst/>
                        </a:rPr>
                        <a:t>ID (Turbine_A, Boiler_1 </a:t>
                      </a:r>
                      <a:r>
                        <a:rPr lang="ko-KR" altLang="en-US" sz="800" u="none" strike="noStrike">
                          <a:effectLst/>
                        </a:rPr>
                        <a:t>등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extLst>
                  <a:ext uri="{0D108BD9-81ED-4DB2-BD59-A6C34878D82A}">
                    <a16:rowId xmlns:a16="http://schemas.microsoft.com/office/drawing/2014/main" val="1771973522"/>
                  </a:ext>
                </a:extLst>
              </a:tr>
              <a:tr h="2402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Temperature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설비 내부 온도 </a:t>
                      </a:r>
                      <a:r>
                        <a:rPr lang="en-US" altLang="ko-KR" sz="800" u="none" strike="noStrike" dirty="0">
                          <a:effectLst/>
                        </a:rPr>
                        <a:t>(°C)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extLst>
                  <a:ext uri="{0D108BD9-81ED-4DB2-BD59-A6C34878D82A}">
                    <a16:rowId xmlns:a16="http://schemas.microsoft.com/office/drawing/2014/main" val="3292852707"/>
                  </a:ext>
                </a:extLst>
              </a:tr>
              <a:tr h="2402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Pressure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내부 압력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bar)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extLst>
                  <a:ext uri="{0D108BD9-81ED-4DB2-BD59-A6C34878D82A}">
                    <a16:rowId xmlns:a16="http://schemas.microsoft.com/office/drawing/2014/main" val="3615349843"/>
                  </a:ext>
                </a:extLst>
              </a:tr>
              <a:tr h="2402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Vibration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진동 수치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mm/s)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extLst>
                  <a:ext uri="{0D108BD9-81ED-4DB2-BD59-A6C34878D82A}">
                    <a16:rowId xmlns:a16="http://schemas.microsoft.com/office/drawing/2014/main" val="2282746518"/>
                  </a:ext>
                </a:extLst>
              </a:tr>
              <a:tr h="2402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GasFlow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연료 유량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m³/h)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extLst>
                  <a:ext uri="{0D108BD9-81ED-4DB2-BD59-A6C34878D82A}">
                    <a16:rowId xmlns:a16="http://schemas.microsoft.com/office/drawing/2014/main" val="54195705"/>
                  </a:ext>
                </a:extLst>
              </a:tr>
              <a:tr h="2402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SteamOutput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증기 생산량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ton/h)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extLst>
                  <a:ext uri="{0D108BD9-81ED-4DB2-BD59-A6C34878D82A}">
                    <a16:rowId xmlns:a16="http://schemas.microsoft.com/office/drawing/2014/main" val="1619429032"/>
                  </a:ext>
                </a:extLst>
              </a:tr>
              <a:tr h="2402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Failure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고장 여부 </a:t>
                      </a:r>
                      <a:r>
                        <a:rPr lang="en-US" altLang="ko-KR" sz="800" u="none" strike="noStrike" dirty="0">
                          <a:effectLst/>
                        </a:rPr>
                        <a:t>(1=</a:t>
                      </a:r>
                      <a:r>
                        <a:rPr lang="ko-KR" altLang="en-US" sz="800" u="none" strike="noStrike" dirty="0">
                          <a:effectLst/>
                        </a:rPr>
                        <a:t>고장</a:t>
                      </a:r>
                      <a:r>
                        <a:rPr lang="en-US" altLang="ko-KR" sz="800" u="none" strike="noStrike" dirty="0">
                          <a:effectLst/>
                        </a:rPr>
                        <a:t>, 0=</a:t>
                      </a:r>
                      <a:r>
                        <a:rPr lang="ko-KR" altLang="en-US" sz="800" u="none" strike="noStrike" dirty="0">
                          <a:effectLst/>
                        </a:rPr>
                        <a:t>정상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70" marR="7070" marT="7070" marB="0" anchor="ctr"/>
                </a:tc>
                <a:extLst>
                  <a:ext uri="{0D108BD9-81ED-4DB2-BD59-A6C34878D82A}">
                    <a16:rowId xmlns:a16="http://schemas.microsoft.com/office/drawing/2014/main" val="416003369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AF02EA89-9B29-7BED-E409-4EB9FF6F0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77" y="2637539"/>
            <a:ext cx="5136332" cy="216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29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78012-650B-8B84-F195-66B1BD3F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5150570-29C8-0B74-56AE-AB713C6733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6A3E1DB-C733-E7AC-35A6-5636B9FAD2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67F26FF-63F0-3C0A-25F4-4A5C4386D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Failure </a:t>
            </a:r>
            <a:r>
              <a:rPr lang="ko-KR" altLang="en-US" dirty="0">
                <a:latin typeface="+mn-ea"/>
              </a:rPr>
              <a:t>고장 여부 </a:t>
            </a:r>
            <a:r>
              <a:rPr lang="en-US" altLang="ko-KR" dirty="0">
                <a:latin typeface="+mn-ea"/>
              </a:rPr>
              <a:t>(1=</a:t>
            </a:r>
            <a:r>
              <a:rPr lang="ko-KR" altLang="en-US" dirty="0">
                <a:latin typeface="+mn-ea"/>
              </a:rPr>
              <a:t>고장</a:t>
            </a:r>
            <a:r>
              <a:rPr lang="en-US" altLang="ko-KR" dirty="0">
                <a:latin typeface="+mn-ea"/>
              </a:rPr>
              <a:t>, 0=</a:t>
            </a:r>
            <a:r>
              <a:rPr lang="ko-KR" altLang="en-US" dirty="0">
                <a:latin typeface="+mn-ea"/>
              </a:rPr>
              <a:t>정상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전체 </a:t>
            </a:r>
            <a:r>
              <a:rPr lang="en-US" altLang="ko-KR" dirty="0">
                <a:latin typeface="+mn-ea"/>
              </a:rPr>
              <a:t>4368 </a:t>
            </a:r>
            <a:r>
              <a:rPr lang="ko-KR" altLang="en-US" dirty="0">
                <a:latin typeface="+mn-ea"/>
              </a:rPr>
              <a:t>개 중에서 고장으로 </a:t>
            </a:r>
            <a:r>
              <a:rPr lang="ko-KR" altLang="en-US" dirty="0" err="1">
                <a:latin typeface="+mn-ea"/>
              </a:rPr>
              <a:t>라벨링</a:t>
            </a:r>
            <a:r>
              <a:rPr lang="ko-KR" altLang="en-US" dirty="0">
                <a:latin typeface="+mn-ea"/>
              </a:rPr>
              <a:t> 된 데이터가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개 인 것을 확인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고장이 발생한 장치에서 데이터를 살펴 봤을 때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온도와 진동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수치는 정상 보다 높게 나오고 </a:t>
            </a:r>
            <a:r>
              <a:rPr lang="ko-KR" altLang="en-US" b="1" dirty="0">
                <a:solidFill>
                  <a:srgbClr val="002060"/>
                </a:solidFill>
                <a:latin typeface="+mn-ea"/>
              </a:rPr>
              <a:t>증기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가 적게 나오는 것으로 판단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고장 데이터가 적어서 불확실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ECB15B-EAC0-4AE3-35EB-27C9696BF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495" y="2901338"/>
            <a:ext cx="7345380" cy="362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7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DA8A-EAE6-BB17-737F-88A511B2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83F3D3F-02F1-D414-21DE-CFB5EBC1FE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EB64556-1BB2-E1DB-C33F-B3633376AA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B70948F-7A72-F0A9-0614-32849DF00D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고장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(1)  vs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정상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(0)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평균 비교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고장 데이터가 적어서 불확실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고장이 나면 온도와 진동이 증가함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7C023EF5-4F3F-AD22-2D27-6D5B712FDE80}"/>
              </a:ext>
            </a:extLst>
          </p:cNvPr>
          <p:cNvSpPr txBox="1">
            <a:spLocks/>
          </p:cNvSpPr>
          <p:nvPr/>
        </p:nvSpPr>
        <p:spPr>
          <a:xfrm>
            <a:off x="247649" y="851647"/>
            <a:ext cx="11613671" cy="5614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SzPct val="100000"/>
              <a:buFont typeface="KoPub돋움체 Medium" panose="02020603020101020101" pitchFamily="18" charset="-127"/>
              <a:buChar char="□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6195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SzPct val="85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4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595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KoPub돋움체 Medium" panose="02020603020101020101" pitchFamily="18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solidFill>
                  <a:srgbClr val="000000"/>
                </a:solidFill>
                <a:latin typeface="+mn-ea"/>
              </a:rPr>
              <a:t>고장</a:t>
            </a:r>
            <a:r>
              <a:rPr lang="en-US" altLang="ko-KR">
                <a:solidFill>
                  <a:srgbClr val="000000"/>
                </a:solidFill>
                <a:latin typeface="+mn-ea"/>
              </a:rPr>
              <a:t>(1)  vs </a:t>
            </a:r>
            <a:r>
              <a:rPr lang="ko-KR" altLang="en-US">
                <a:solidFill>
                  <a:srgbClr val="000000"/>
                </a:solidFill>
                <a:latin typeface="+mn-ea"/>
              </a:rPr>
              <a:t>정상</a:t>
            </a:r>
            <a:r>
              <a:rPr lang="en-US" altLang="ko-KR">
                <a:solidFill>
                  <a:srgbClr val="000000"/>
                </a:solidFill>
                <a:latin typeface="+mn-ea"/>
              </a:rPr>
              <a:t>(0) </a:t>
            </a:r>
            <a:r>
              <a:rPr lang="ko-KR" altLang="en-US">
                <a:solidFill>
                  <a:srgbClr val="000000"/>
                </a:solidFill>
                <a:latin typeface="+mn-ea"/>
              </a:rPr>
              <a:t>평균 비교 </a:t>
            </a:r>
            <a:r>
              <a:rPr lang="en-US" altLang="ko-KR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>
                <a:solidFill>
                  <a:srgbClr val="000000"/>
                </a:solidFill>
                <a:latin typeface="+mn-ea"/>
              </a:rPr>
              <a:t>고장 데이터가 적어서 불확실</a:t>
            </a:r>
            <a:r>
              <a:rPr lang="en-US" altLang="ko-KR">
                <a:solidFill>
                  <a:srgbClr val="000000"/>
                </a:solidFill>
                <a:latin typeface="+mn-ea"/>
              </a:rPr>
              <a:t>)</a:t>
            </a:r>
          </a:p>
          <a:p>
            <a:r>
              <a:rPr lang="ko-KR" altLang="en-US">
                <a:solidFill>
                  <a:srgbClr val="000000"/>
                </a:solidFill>
                <a:latin typeface="+mn-ea"/>
              </a:rPr>
              <a:t>고장이 나면 온도와 진동이 증가함</a:t>
            </a:r>
            <a:endParaRPr lang="en-US" altLang="ko-KR">
              <a:solidFill>
                <a:srgbClr val="000000"/>
              </a:solidFill>
              <a:latin typeface="+mn-ea"/>
            </a:endParaRPr>
          </a:p>
          <a:p>
            <a:endParaRPr lang="en-US" altLang="ko-KR"/>
          </a:p>
          <a:p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AB04762-CA36-BD4F-6C7D-6DF3004BFADE}"/>
              </a:ext>
            </a:extLst>
          </p:cNvPr>
          <p:cNvGrpSpPr/>
          <p:nvPr/>
        </p:nvGrpSpPr>
        <p:grpSpPr>
          <a:xfrm>
            <a:off x="609943" y="2387851"/>
            <a:ext cx="10359496" cy="2947233"/>
            <a:chOff x="464461" y="2914886"/>
            <a:chExt cx="13224713" cy="37623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5C7E38D-1AE8-F10F-3038-D4B9976BC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461" y="2914886"/>
              <a:ext cx="4400550" cy="376237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DC76BB3-ADA1-AC24-5463-285269421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1780" y="2914886"/>
              <a:ext cx="4391025" cy="375285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0FB69D8-1F52-DB55-FF8A-1440562B0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69574" y="2924411"/>
              <a:ext cx="4419600" cy="3752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4736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43F03-DB67-A768-EF40-806A1D9D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1472229-0AB3-4776-66AA-C0AC46F3A6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  <a:p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C1B1ACD-27DF-F1A8-80A4-49B32105E1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D112758-BB93-AA89-908F-78A1A8B94B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독립 변수들 간의 상관관계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dirty="0"/>
              <a:t>Temperature, Pressure, Vibration, </a:t>
            </a:r>
            <a:r>
              <a:rPr lang="en-US" altLang="ko-KR" dirty="0" err="1"/>
              <a:t>GasFlow</a:t>
            </a:r>
            <a:r>
              <a:rPr lang="en-US" altLang="ko-KR" dirty="0"/>
              <a:t>, </a:t>
            </a:r>
            <a:r>
              <a:rPr lang="en-US" altLang="ko-KR" dirty="0" err="1"/>
              <a:t>SteamOutput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ko-KR" altLang="en-US" dirty="0"/>
              <a:t>변수들 상관 관계 </a:t>
            </a:r>
            <a:r>
              <a:rPr lang="en-US" altLang="ko-KR" dirty="0"/>
              <a:t>X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1EF558-5BEE-3428-EECC-6BC9D38D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099" y="1686821"/>
            <a:ext cx="58578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80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95A75-6D63-C4F9-C005-19B7C760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BA27CC5-3C30-2396-4585-B2CEEBD1E7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  <a:p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26FFE38-8995-9F56-9C56-3D41C2B29C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모형 설계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9086713-9BAA-A205-82AC-C114861775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데이터가 불균형이 있기 때문에 일반적인 분류 모델을 적용하면 정상 데이터만 정확도 좋을 것으로 예상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사실 데이터를 증강하거나 다른 방법을 생각 해야함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독립 변수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온도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압력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진동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연료 유량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증기 생산량  종속 변수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고장 여부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간단한 딥러닝 모델을 구성해서 훈련 진행 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훈련 데이터와 테스트 데이터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8:2 batch 16 epochs 50</a:t>
            </a:r>
          </a:p>
          <a:p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644FBF8-06F9-EB70-A0F1-08827250F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321" y="3282688"/>
            <a:ext cx="5661434" cy="280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7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6A4F-1529-64C4-2E7D-F4655B22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B897568-2144-8907-9118-C413B8970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  <a:p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A205E32-B959-BEEC-14BA-C743354D4E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모형 설계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4D9F987-B3D5-A49E-4B0C-19D80AAFDA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</a:rPr>
              <a:t>Test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데이터에 성능 평가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정상 데이터는 완벽하게 맞춤 하지만 고장 데이터는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1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건 있는데 놓침 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정상 데이터에 대해서는 성능이 좋음 </a:t>
            </a:r>
            <a:r>
              <a:rPr lang="en-US" altLang="ko-KR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고장데이터를 분류를 못하기 때문에 일반적인 분류 모델을 적용하면 </a:t>
            </a:r>
            <a:r>
              <a:rPr lang="en-US" altLang="ko-KR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X</a:t>
            </a:r>
          </a:p>
          <a:p>
            <a:pPr marL="447675" lvl="1" indent="0">
              <a:buNone/>
            </a:pP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E52CCF-941A-E780-BEE8-068DC78F3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842" y="3266038"/>
            <a:ext cx="5494039" cy="297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06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14A7-316D-0099-5327-AB98C2B8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D02D1B4-578F-42A3-6090-1B3D981D9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  <a:p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D3F4136-E435-B3EF-61AB-487FC5BA5B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모형 설계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089FD04-9C49-5391-0900-27135B9F2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Reconstruction Error = (</a:t>
            </a:r>
            <a:r>
              <a:rPr lang="ko-KR" altLang="en-US" dirty="0">
                <a:latin typeface="+mn-ea"/>
              </a:rPr>
              <a:t>입력 − </a:t>
            </a:r>
            <a:r>
              <a:rPr lang="ko-KR" altLang="en-US" dirty="0" err="1">
                <a:latin typeface="+mn-ea"/>
              </a:rPr>
              <a:t>복원값</a:t>
            </a:r>
            <a:r>
              <a:rPr lang="en-US" altLang="ko-KR" dirty="0">
                <a:latin typeface="+mn-ea"/>
              </a:rPr>
              <a:t>)² </a:t>
            </a:r>
            <a:r>
              <a:rPr lang="ko-KR" altLang="en-US" dirty="0">
                <a:latin typeface="+mn-ea"/>
              </a:rPr>
              <a:t>평균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Threshold: </a:t>
            </a:r>
            <a:r>
              <a:rPr lang="ko-KR" altLang="en-US" dirty="0">
                <a:latin typeface="+mn-ea"/>
              </a:rPr>
              <a:t>정상데이터의 평균 </a:t>
            </a:r>
            <a:r>
              <a:rPr lang="en-US" altLang="ko-KR" dirty="0">
                <a:latin typeface="+mn-ea"/>
              </a:rPr>
              <a:t>+ 3×</a:t>
            </a:r>
            <a:r>
              <a:rPr lang="ko-KR" altLang="en-US" dirty="0">
                <a:latin typeface="+mn-ea"/>
              </a:rPr>
              <a:t>표준편차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오차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기준선 → 고장</a:t>
            </a:r>
            <a:r>
              <a:rPr lang="en-US" altLang="ko-KR" dirty="0">
                <a:latin typeface="+mn-ea"/>
              </a:rPr>
              <a:t>(1)</a:t>
            </a:r>
          </a:p>
          <a:p>
            <a:pPr lvl="1"/>
            <a:r>
              <a:rPr lang="ko-KR" altLang="en-US" dirty="0">
                <a:latin typeface="+mn-ea"/>
              </a:rPr>
              <a:t>오차 ≤ 기준선 → 정상</a:t>
            </a:r>
            <a:r>
              <a:rPr lang="en-US" altLang="ko-KR" dirty="0">
                <a:latin typeface="+mn-ea"/>
              </a:rPr>
              <a:t>(0)</a:t>
            </a: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고장 데이터를 잘 분류 했지만 정상 데이터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93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개를 고장이라고 판단함 </a:t>
            </a:r>
            <a:r>
              <a:rPr lang="en-US" altLang="ko-KR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정상 데이터를 잘못 분류 </a:t>
            </a:r>
            <a:r>
              <a:rPr lang="ko-KR" altLang="en-US" dirty="0" err="1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하는것</a:t>
            </a:r>
            <a:r>
              <a:rPr lang="ko-KR" altLang="en-US" dirty="0">
                <a:solidFill>
                  <a:srgbClr val="000000"/>
                </a:solidFill>
                <a:latin typeface="+mn-ea"/>
                <a:sym typeface="Wingdings" panose="05000000000000000000" pitchFamily="2" charset="2"/>
              </a:rPr>
              <a:t> 도 문제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40240B-C25E-CD63-D1EF-0B66E517A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784" y="3429000"/>
            <a:ext cx="5590080" cy="277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37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ED998-F590-B362-7779-613FC6DB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6C776DC-A17F-55A3-8D50-D9A977A7E5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  <a:p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712188-A8C8-46A0-9C1E-BF942BAEAD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모형 설계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7012D7C-78DA-8CAC-46F4-BBC16C2000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Threshold(</a:t>
            </a:r>
            <a:r>
              <a:rPr lang="ko-KR" altLang="en-US" dirty="0" err="1">
                <a:latin typeface="+mn-ea"/>
              </a:rPr>
              <a:t>임계값</a:t>
            </a:r>
            <a:r>
              <a:rPr lang="en-US" altLang="ko-KR" dirty="0">
                <a:latin typeface="+mn-ea"/>
              </a:rPr>
              <a:t>) ROC/Youden Index </a:t>
            </a:r>
            <a:r>
              <a:rPr lang="ko-KR" altLang="en-US" dirty="0">
                <a:latin typeface="+mn-ea"/>
              </a:rPr>
              <a:t>기준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Threshold: Youden Index = TPR-FPR </a:t>
            </a:r>
            <a:r>
              <a:rPr lang="ko-KR" altLang="en-US" dirty="0">
                <a:latin typeface="+mn-ea"/>
              </a:rPr>
              <a:t>최대값 정상과 고장을 잘 구분할 수 있는 기준점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오차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기준선 → 고장</a:t>
            </a:r>
            <a:r>
              <a:rPr lang="en-US" altLang="ko-KR" dirty="0">
                <a:latin typeface="+mn-ea"/>
              </a:rPr>
              <a:t>(1)</a:t>
            </a:r>
          </a:p>
          <a:p>
            <a:pPr lvl="1"/>
            <a:r>
              <a:rPr lang="ko-KR" altLang="en-US" dirty="0">
                <a:latin typeface="+mn-ea"/>
              </a:rPr>
              <a:t>오차 ≤ 기준선 → 정상</a:t>
            </a:r>
            <a:r>
              <a:rPr lang="en-US" altLang="ko-KR" dirty="0">
                <a:latin typeface="+mn-ea"/>
              </a:rPr>
              <a:t>(0)</a:t>
            </a:r>
          </a:p>
          <a:p>
            <a:r>
              <a:rPr lang="ko-KR" altLang="en-US" dirty="0">
                <a:latin typeface="+mn-ea"/>
              </a:rPr>
              <a:t>고장 데이터를 하나 분류를 못했지만 정상 데이터는 잘 분류함</a:t>
            </a:r>
            <a:endParaRPr lang="en-US" altLang="ko-KR" dirty="0">
              <a:latin typeface="+mn-ea"/>
            </a:endParaRPr>
          </a:p>
          <a:p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5BFD4DA-E17D-4A4B-13F1-FDDC6073E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575" y="3429000"/>
            <a:ext cx="5604850" cy="288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71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8966-2C22-1F8C-C0E9-64302078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4367EDD-1C90-21DD-4107-14D6228C8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보고서</a:t>
            </a:r>
          </a:p>
          <a:p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9AF80C0-9176-D266-D373-C0BD9F5B58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결과 및 시사점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78DF7F6-EE4B-BD05-CAD2-08BBB5FCF6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데이터 불균형 문제 인식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/>
            <a:r>
              <a:rPr lang="ko-KR" altLang="en-US" dirty="0">
                <a:solidFill>
                  <a:srgbClr val="000000"/>
                </a:solidFill>
                <a:latin typeface="+mn-ea"/>
              </a:rPr>
              <a:t>본 데이터는 클래스 간 불균형이 심하여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일반적안 분류 모델을 그대로 적용할 경우 성능 저하가 발생함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데이터 보완 방안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/>
            <a:r>
              <a:rPr lang="ko-KR" altLang="en-US" dirty="0">
                <a:solidFill>
                  <a:srgbClr val="000000"/>
                </a:solidFill>
                <a:latin typeface="+mn-ea"/>
              </a:rPr>
              <a:t>불균형 문제를 완화하기 위해서 추가 데이터 수집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합성 데이터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데이터 증강 기법을 활용할 필요가 있음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대안적 접근 인코더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디코더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기반 모델 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/>
            <a:r>
              <a:rPr lang="ko-KR" altLang="en-US" dirty="0">
                <a:solidFill>
                  <a:srgbClr val="000000"/>
                </a:solidFill>
                <a:latin typeface="+mn-ea"/>
              </a:rPr>
              <a:t>정상 데이터만 학습하는 </a:t>
            </a:r>
            <a:r>
              <a:rPr lang="en-US" altLang="ko-KR" dirty="0">
                <a:latin typeface="+mn-ea"/>
              </a:rPr>
              <a:t>Autoencoder(</a:t>
            </a:r>
            <a:r>
              <a:rPr lang="ko-KR" altLang="en-US" dirty="0">
                <a:latin typeface="+mn-ea"/>
              </a:rPr>
              <a:t>인코더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디코더</a:t>
            </a:r>
            <a:r>
              <a:rPr lang="ko-KR" altLang="en-US" dirty="0">
                <a:latin typeface="+mn-ea"/>
              </a:rPr>
              <a:t> 구조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모델을 사용하여</a:t>
            </a:r>
            <a:br>
              <a:rPr lang="ko-KR" altLang="en-US" dirty="0">
                <a:latin typeface="+mn-ea"/>
              </a:rPr>
            </a:br>
            <a:r>
              <a:rPr lang="ko-KR" altLang="en-US" dirty="0">
                <a:latin typeface="+mn-ea"/>
              </a:rPr>
              <a:t>입력 데이터를 재구성하고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재구성 오차가 큰 데이터를 비정상 데이터로 탐지하는 접근이 보다 적절함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한계 및 고려사항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/>
            <a:r>
              <a:rPr lang="ko-KR" altLang="en-US" dirty="0">
                <a:solidFill>
                  <a:srgbClr val="000000"/>
                </a:solidFill>
                <a:latin typeface="+mn-ea"/>
              </a:rPr>
              <a:t>학습하는 </a:t>
            </a:r>
            <a:r>
              <a:rPr lang="en-US" altLang="ko-KR" dirty="0">
                <a:latin typeface="+mn-ea"/>
              </a:rPr>
              <a:t>Autoencoder(</a:t>
            </a:r>
            <a:r>
              <a:rPr lang="ko-KR" altLang="en-US" dirty="0">
                <a:latin typeface="+mn-ea"/>
              </a:rPr>
              <a:t>인코더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디코더</a:t>
            </a:r>
            <a:r>
              <a:rPr lang="ko-KR" altLang="en-US" dirty="0">
                <a:latin typeface="+mn-ea"/>
              </a:rPr>
              <a:t> 구조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모델은 </a:t>
            </a:r>
            <a:r>
              <a:rPr lang="ko-KR" altLang="en-US" dirty="0" err="1">
                <a:latin typeface="+mn-ea"/>
              </a:rPr>
              <a:t>임계값</a:t>
            </a:r>
            <a:r>
              <a:rPr lang="en-US" altLang="ko-KR" dirty="0">
                <a:latin typeface="+mn-ea"/>
              </a:rPr>
              <a:t>(Threshold) </a:t>
            </a:r>
            <a:r>
              <a:rPr lang="ko-KR" altLang="en-US" dirty="0">
                <a:latin typeface="+mn-ea"/>
              </a:rPr>
              <a:t>설정에 따라 결과라 달라질 수 있음</a:t>
            </a:r>
            <a:endParaRPr lang="en-US" altLang="ko-KR" dirty="0">
              <a:latin typeface="+mn-ea"/>
            </a:endParaRPr>
          </a:p>
          <a:p>
            <a:pPr lvl="2"/>
            <a:r>
              <a:rPr lang="ko-KR" altLang="en-US" dirty="0">
                <a:solidFill>
                  <a:srgbClr val="000000"/>
                </a:solidFill>
                <a:latin typeface="+mn-ea"/>
              </a:rPr>
              <a:t>따라서 상황에 따라 적절한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임계값을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조정하고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도메인 지식을 반영하여 탐지 기준을 설정하는 것이 중요함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86008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SimG_Theme">
      <a:dk1>
        <a:srgbClr val="080808"/>
      </a:dk1>
      <a:lt1>
        <a:srgbClr val="FFFFFF"/>
      </a:lt1>
      <a:dk2>
        <a:srgbClr val="080808"/>
      </a:dk2>
      <a:lt2>
        <a:srgbClr val="FFFFFF"/>
      </a:lt2>
      <a:accent1>
        <a:srgbClr val="141E46"/>
      </a:accent1>
      <a:accent2>
        <a:srgbClr val="C70039"/>
      </a:accent2>
      <a:accent3>
        <a:srgbClr val="FF6969"/>
      </a:accent3>
      <a:accent4>
        <a:srgbClr val="FEC260"/>
      </a:accent4>
      <a:accent5>
        <a:srgbClr val="FF9C91"/>
      </a:accent5>
      <a:accent6>
        <a:srgbClr val="FFF1C1"/>
      </a:accent6>
      <a:hlink>
        <a:srgbClr val="0563C1"/>
      </a:hlink>
      <a:folHlink>
        <a:srgbClr val="954F72"/>
      </a:folHlink>
    </a:clrScheme>
    <a:fontScheme name="사용자 지정 5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11112</TotalTime>
  <Words>877</Words>
  <Application>Microsoft Office PowerPoint</Application>
  <PresentationFormat>와이드스크린</PresentationFormat>
  <Paragraphs>162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KoPub돋움체 Bold</vt:lpstr>
      <vt:lpstr>KoPub돋움체 Light</vt:lpstr>
      <vt:lpstr>KoPub돋움체 Medium</vt:lpstr>
      <vt:lpstr>맑은 고딕</vt:lpstr>
      <vt:lpstr>Arial</vt:lpstr>
      <vt:lpstr>Wingdings</vt:lpstr>
      <vt:lpstr>Office 테마</vt:lpstr>
      <vt:lpstr>과제</vt:lpstr>
      <vt:lpstr>목차 </vt:lpstr>
      <vt:lpstr>주관식 문항</vt:lpstr>
      <vt:lpstr>PowerPoint 프레젠테이션</vt:lpstr>
      <vt:lpstr>PowerPoint 프레젠테이션</vt:lpstr>
      <vt:lpstr>깃허브 프로젝트 </vt:lpstr>
      <vt:lpstr>PowerPoint 프레젠테이션</vt:lpstr>
      <vt:lpstr>프로젝트 보고서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 Sim</dc:creator>
  <cp:lastModifiedBy>현기 한</cp:lastModifiedBy>
  <cp:revision>289</cp:revision>
  <dcterms:created xsi:type="dcterms:W3CDTF">2024-02-16T04:32:02Z</dcterms:created>
  <dcterms:modified xsi:type="dcterms:W3CDTF">2025-11-12T12:44:58Z</dcterms:modified>
</cp:coreProperties>
</file>